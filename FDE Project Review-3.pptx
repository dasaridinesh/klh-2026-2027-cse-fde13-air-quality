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5"/>
  </p:notesMasterIdLst>
  <p:sldIdLst>
    <p:sldId id="262" r:id="rId3"/>
    <p:sldId id="257" r:id="rId4"/>
    <p:sldId id="707" r:id="rId5"/>
    <p:sldId id="903" r:id="rId6"/>
    <p:sldId id="258" r:id="rId7"/>
    <p:sldId id="902" r:id="rId8"/>
    <p:sldId id="260" r:id="rId9"/>
    <p:sldId id="906" r:id="rId10"/>
    <p:sldId id="905" r:id="rId11"/>
    <p:sldId id="907" r:id="rId12"/>
    <p:sldId id="908" r:id="rId13"/>
    <p:sldId id="90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2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#2" qsCatId="3D" csTypeId="urn:microsoft.com/office/officeart/2005/8/colors/colorful1#2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#2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703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EA6A-8FF5-49DF-BDDD-F7431B447D8F}" type="datetime3">
              <a:rPr lang="en-US" smtClean="0"/>
              <a:t>19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60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1EB6-9770-43AB-BBCE-044F1DB66B82}" type="datetime3">
              <a:rPr lang="en-US" smtClean="0"/>
              <a:t>19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29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05DC-9CDD-41AE-979C-F366BC0443ED}" type="datetime3">
              <a:rPr lang="en-US" smtClean="0"/>
              <a:t>19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23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AC05-A025-4B8A-AB88-2AE8812F8A48}" type="datetime3">
              <a:rPr lang="en-US" smtClean="0"/>
              <a:t>19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908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D5-6813-455D-BAA0-28A983958C32}" type="datetime3">
              <a:rPr lang="en-US" smtClean="0"/>
              <a:t>19 September 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485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9C4-DF5F-4FAA-9214-A2117415D598}" type="datetime3">
              <a:rPr lang="en-US" smtClean="0"/>
              <a:t>19 September 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8849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  <a:t>19 September 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8867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B4AA-F6FE-4EF1-9FE6-D5606E858D35}" type="datetime3">
              <a:rPr lang="en-US" smtClean="0"/>
              <a:t>19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491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47F9-D0DE-4919-BAA4-23065C38E70B}" type="datetime3">
              <a:rPr lang="en-US" smtClean="0"/>
              <a:t>19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3319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772-7494-4C65-A0D8-1FBD740B2E65}" type="datetime3">
              <a:rPr lang="en-US" smtClean="0"/>
              <a:t>19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584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DC-0019-49C7-8AD2-EF5D896393D8}" type="datetime3">
              <a:rPr lang="en-US" smtClean="0"/>
              <a:t>19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595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6266A-CA82-4709-A4C2-B8B2AD8F4816}" type="datetime3">
              <a:rPr lang="en-US" smtClean="0"/>
              <a:t>19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76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hyperlink" Target="https://svgsilh.com/03a9f4/image/98809.html" TargetMode="External"/><Relationship Id="rId7" Type="http://schemas.openxmlformats.org/officeDocument/2006/relationships/diagramColors" Target="../diagrams/colors1.xm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1099836"/>
              </p:ext>
            </p:extLst>
          </p:nvPr>
        </p:nvGraphicFramePr>
        <p:xfrm>
          <a:off x="7452360" y="4898509"/>
          <a:ext cx="4442961" cy="15415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42961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154157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6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M. Sri Ram Madhav        2420030273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D. Dinesh Kumar             2420030169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T. Vallabh                          2420030029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B5A8CA37-C090-A9D8-75D0-A7A7D5DEBE24}"/>
              </a:ext>
            </a:extLst>
          </p:cNvPr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0073711"/>
              </p:ext>
            </p:extLst>
          </p:nvPr>
        </p:nvGraphicFramePr>
        <p:xfrm>
          <a:off x="-795813" y="4774125"/>
          <a:ext cx="5902325" cy="1366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Dr. N. Sirisha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Professor,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</a:t>
                      </a:r>
                      <a:r>
                        <a:rPr lang="en-US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Computer Science and Engineering,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8A67E7A6-1F33-FBD3-09B8-F35F17C8F890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C1554CCE-4DF8-89E6-E0F6-3C2A1439C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b="1" dirty="0"/>
              <a:t>Date</a:t>
            </a:r>
            <a:endParaRPr lang="en-IN" b="1" dirty="0"/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8FB49AA0-2464-6225-6B6C-063F9A6EC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dirty="0"/>
              <a:t>SOA Project Review-2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538162" y="829240"/>
            <a:ext cx="10915650" cy="98564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4CF64F-3FB6-0CE4-B778-63C5D5A1D343}"/>
              </a:ext>
            </a:extLst>
          </p:cNvPr>
          <p:cNvSpPr txBox="1"/>
          <p:nvPr/>
        </p:nvSpPr>
        <p:spPr>
          <a:xfrm>
            <a:off x="738187" y="996602"/>
            <a:ext cx="107156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Air Quality Intelligence System using Big Data and Python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Poppins" pitchFamily="2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738187" y="2246806"/>
            <a:ext cx="1071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FDE Project Review-3</a:t>
            </a:r>
          </a:p>
        </p:txBody>
      </p:sp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BD4C9C-9DEB-26F4-AA75-F51C06DD64DC}"/>
              </a:ext>
            </a:extLst>
          </p:cNvPr>
          <p:cNvSpPr txBox="1"/>
          <p:nvPr/>
        </p:nvSpPr>
        <p:spPr>
          <a:xfrm>
            <a:off x="3991897" y="48223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Problem Statement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01" name="Problem Statement Content"/>
          <p:cNvSpPr txBox="1"/>
          <p:nvPr/>
        </p:nvSpPr>
        <p:spPr>
          <a:xfrm>
            <a:off x="800100" y="1750000"/>
            <a:ext cx="10600000" cy="46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285750" indent="-285750" algn="just">
              <a:buFont typeface="Arial" pitchFamily="34" charset="0"/>
              <a:buChar char="•"/>
            </a:pPr>
            <a:r>
              <a:rPr lang="en-US" sz="1600" b="0" dirty="0">
                <a:latin typeface="Times New Roman" pitchFamily="18" charset="0"/>
                <a:cs typeface="Times New Roman" pitchFamily="18" charset="0"/>
              </a:rPr>
              <a:t>Air quality data remains scattered across government monitoring stations, satellite feeds, industrial sensors, and traffic sensors, with no unified view of regional pollution levels.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sz="1600" b="0" dirty="0">
                <a:latin typeface="Times New Roman" pitchFamily="18" charset="0"/>
                <a:cs typeface="Times New Roman" pitchFamily="18" charset="0"/>
              </a:rPr>
              <a:t>Manual, station-based reporting delays the detection of pollution spikes, often surfacing hazardous trends only after public exposure has already occurred.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sz="1600" b="0" dirty="0">
                <a:latin typeface="Times New Roman" pitchFamily="18" charset="0"/>
                <a:cs typeface="Times New Roman" pitchFamily="18" charset="0"/>
              </a:rPr>
              <a:t>Existing air-quality portals mostly offer static, after-the-fact AQI reports rather than proactive, predictive pollution forecasts.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sz="1600" b="0" dirty="0">
                <a:latin typeface="Times New Roman" pitchFamily="18" charset="0"/>
                <a:cs typeface="Times New Roman" pitchFamily="18" charset="0"/>
              </a:rPr>
              <a:t>Citizens and policymakers lack real-time alerts for hazardous pollution spikes, unhealthy AQI zones, or early warning signs across regions.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sz="1600" b="0" dirty="0">
                <a:latin typeface="Times New Roman" pitchFamily="18" charset="0"/>
                <a:cs typeface="Times New Roman" pitchFamily="18" charset="0"/>
              </a:rPr>
              <a:t>There is no single, scalable platform that connects meteorological, industrial, traffic, and satellite data to assess air-quality risk in real time.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sz="1600" b="0" dirty="0">
                <a:latin typeface="Times New Roman" pitchFamily="18" charset="0"/>
                <a:cs typeface="Times New Roman" pitchFamily="18" charset="0"/>
              </a:rPr>
              <a:t>There is a need for a secure, scalable, Big-Data-driven analytics platform that can process high-volume sensor data and support timely, data-driven air-quality decisions.</a:t>
            </a:r>
          </a:p>
          <a:p>
            <a:pPr marL="0" indent="0" algn="just">
              <a:buNone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An Air Quality Intelligence System (AQIS) is proposed as a Big-Data and Python-based analytics and forecasting platform to close this gap.</a:t>
            </a:r>
          </a:p>
        </p:txBody>
      </p:sp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797C6D7-F4DC-4908-B610-D10EE43A9B41}"/>
              </a:ext>
            </a:extLst>
          </p:cNvPr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 w="0"/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Real-World Relevance &amp; Motivation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25CDE63-8DDC-4AC4-7713-9D89D6D0F4B1}"/>
              </a:ext>
            </a:extLst>
          </p:cNvPr>
          <p:cNvGrpSpPr/>
          <p:nvPr/>
        </p:nvGrpSpPr>
        <p:grpSpPr>
          <a:xfrm>
            <a:off x="2001361" y="1377996"/>
            <a:ext cx="6784432" cy="4438977"/>
            <a:chOff x="1929643" y="1656655"/>
            <a:chExt cx="6784432" cy="443897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0A4CA55-824E-91B2-D5F9-032778D4B8B3}"/>
                </a:ext>
              </a:extLst>
            </p:cNvPr>
            <p:cNvSpPr txBox="1"/>
            <p:nvPr/>
          </p:nvSpPr>
          <p:spPr>
            <a:xfrm>
              <a:off x="2675533" y="3257433"/>
              <a:ext cx="4267376" cy="96032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Pollution Spikes Too Late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E7E17B2-5AF8-C463-91C3-5B87FC773369}"/>
                </a:ext>
              </a:extLst>
            </p:cNvPr>
            <p:cNvSpPr txBox="1"/>
            <p:nvPr/>
          </p:nvSpPr>
          <p:spPr>
            <a:xfrm>
              <a:off x="2922896" y="3753448"/>
              <a:ext cx="4374693" cy="87357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No Unified AQI View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D160BA9-A291-1BA5-C03E-7218C2169C28}"/>
                </a:ext>
              </a:extLst>
            </p:cNvPr>
            <p:cNvSpPr txBox="1"/>
            <p:nvPr/>
          </p:nvSpPr>
          <p:spPr>
            <a:xfrm>
              <a:off x="3139925" y="4332926"/>
              <a:ext cx="4529560" cy="93769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Weak Decision Support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C792DA3-F484-948A-E346-F158FE24CE3F}"/>
                </a:ext>
              </a:extLst>
            </p:cNvPr>
            <p:cNvSpPr txBox="1"/>
            <p:nvPr/>
          </p:nvSpPr>
          <p:spPr>
            <a:xfrm>
              <a:off x="3426151" y="4880317"/>
              <a:ext cx="4774676" cy="91973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Need for Real-Time Big Data</a:t>
              </a:r>
              <a:b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</a:b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57E2443-43F4-3FA3-6C83-796D6B456220}"/>
                </a:ext>
              </a:extLst>
            </p:cNvPr>
            <p:cNvSpPr txBox="1"/>
            <p:nvPr/>
          </p:nvSpPr>
          <p:spPr>
            <a:xfrm>
              <a:off x="3822549" y="5483028"/>
              <a:ext cx="4891526" cy="61260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Motivation: One Unified AQI Platform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FEE87FCF-6A51-9005-163C-5E3B5C1257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8229530" y="5002476"/>
              <a:ext cx="455841" cy="536286"/>
            </a:xfrm>
            <a:prstGeom prst="rect">
              <a:avLst/>
            </a:prstGeom>
          </p:spPr>
        </p:pic>
        <p:sp>
          <p:nvSpPr>
            <p:cNvPr id="28" name="Content Placeholder 11">
              <a:extLst>
                <a:ext uri="{FF2B5EF4-FFF2-40B4-BE49-F238E27FC236}">
                  <a16:creationId xmlns:a16="http://schemas.microsoft.com/office/drawing/2014/main" id="{F1211E34-5F1E-9B5C-4C59-2549F412DCD1}"/>
                </a:ext>
              </a:extLst>
            </p:cNvPr>
            <p:cNvSpPr txBox="1">
              <a:spLocks/>
            </p:cNvSpPr>
            <p:nvPr/>
          </p:nvSpPr>
          <p:spPr>
            <a:xfrm>
              <a:off x="1929643" y="1656655"/>
              <a:ext cx="3548330" cy="74899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Rising Air Pollution Levels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1" name="Content Placeholder 11">
              <a:extLst>
                <a:ext uri="{FF2B5EF4-FFF2-40B4-BE49-F238E27FC236}">
                  <a16:creationId xmlns:a16="http://schemas.microsoft.com/office/drawing/2014/main" id="{4D713724-2EA7-CA04-47B9-F63B3DAC496D}"/>
                </a:ext>
              </a:extLst>
            </p:cNvPr>
            <p:cNvSpPr txBox="1">
              <a:spLocks/>
            </p:cNvSpPr>
            <p:nvPr/>
          </p:nvSpPr>
          <p:spPr>
            <a:xfrm>
              <a:off x="2209801" y="2217836"/>
              <a:ext cx="3886200" cy="666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 fontScale="925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Fragmented AQI Data Sources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55B3B570-3194-94D5-869B-2F3E3E133BA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683523" y="4358877"/>
              <a:ext cx="455841" cy="536286"/>
            </a:xfrm>
            <a:prstGeom prst="rect">
              <a:avLst/>
            </a:prstGeom>
          </p:spPr>
        </p:pic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A01B3509-5090-7764-12FF-0CDB13E360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229942" y="3813495"/>
              <a:ext cx="455841" cy="536286"/>
            </a:xfrm>
            <a:prstGeom prst="rect">
              <a:avLst/>
            </a:prstGeom>
          </p:spPr>
        </p:pic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4A5FDD7E-5A46-92A5-C963-19E091BBF72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863353" y="3200501"/>
              <a:ext cx="455841" cy="536286"/>
            </a:xfrm>
            <a:prstGeom prst="rect">
              <a:avLst/>
            </a:prstGeom>
          </p:spPr>
        </p:pic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C50C5009-E2F0-E358-4C45-CAEADDEC93B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443196" y="2766955"/>
              <a:ext cx="455841" cy="536286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F1D91F2F-C2FB-3146-467B-21A20C8410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040392" y="2252522"/>
              <a:ext cx="455841" cy="536286"/>
            </a:xfrm>
            <a:prstGeom prst="rect">
              <a:avLst/>
            </a:prstGeom>
          </p:spPr>
        </p:pic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7B0FD951-BFA0-1228-E572-2BFE866AEE7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5626122" y="1721293"/>
              <a:ext cx="455841" cy="53628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76F380C-3238-E430-3C22-3C23884CE532}"/>
                </a:ext>
              </a:extLst>
            </p:cNvPr>
            <p:cNvSpPr txBox="1"/>
            <p:nvPr/>
          </p:nvSpPr>
          <p:spPr>
            <a:xfrm>
              <a:off x="2490411" y="2773626"/>
              <a:ext cx="4004225" cy="50687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4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Manual, Delayed Reporting</a:t>
              </a:r>
              <a:endParaRPr kumimoji="0" lang="en-US" sz="204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</p:grpSp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C044B753-17EC-8A45-927F-C44CC40ED5BA}"/>
              </a:ext>
            </a:extLst>
          </p:cNvPr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0B4D1914-919F-D842-1FC2-1BBFC0E95C2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694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4AF34-8CFC-8161-A3CD-DED259C9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F508849-A0DD-12D4-FD0D-5322CA138B2F}"/>
              </a:ext>
            </a:extLst>
          </p:cNvPr>
          <p:cNvSpPr txBox="1"/>
          <p:nvPr/>
        </p:nvSpPr>
        <p:spPr>
          <a:xfrm>
            <a:off x="3048000" y="4691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Objectives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2C6E66-DFCA-CBBA-3972-F62C5800A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02" name="Objectives Content"/>
          <p:cNvSpPr txBox="1"/>
          <p:nvPr/>
        </p:nvSpPr>
        <p:spPr>
          <a:xfrm>
            <a:off x="800100" y="1750000"/>
            <a:ext cx="10600000" cy="46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285750" indent="-285750" algn="just">
              <a:buFont typeface="Arial" pitchFamily="34" charset="0"/>
              <a:buChar char="•"/>
            </a:pPr>
            <a:r>
              <a:rPr lang="en-US" sz="1600" b="0" dirty="0">
                <a:latin typeface="Times New Roman" pitchFamily="18" charset="0"/>
                <a:cs typeface="Times New Roman" pitchFamily="18" charset="0"/>
              </a:rPr>
              <a:t>Build a single Big-Data platform integrating multi-source air-quality data ingestion (government monitors, satellite feeds, IoT/traffic sensors) using a scalable streaming pipeline (Kafka/Spark).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sz="1600" b="0" dirty="0">
                <a:latin typeface="Times New Roman" pitchFamily="18" charset="0"/>
                <a:cs typeface="Times New Roman" pitchFamily="18" charset="0"/>
              </a:rPr>
              <a:t>Provide Python-based machine-learning models for AQI forecasting, pollutant-level prediction, and pollution-source classification.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sz="1600" b="0" dirty="0">
                <a:latin typeface="Times New Roman" pitchFamily="18" charset="0"/>
                <a:cs typeface="Times New Roman" pitchFamily="18" charset="0"/>
              </a:rPr>
              <a:t>Implement interactive dashboards for real-time air-quality visualization across regions, cities, and monitoring zones.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sz="1600" b="0" dirty="0">
                <a:latin typeface="Times New Roman" pitchFamily="18" charset="0"/>
                <a:cs typeface="Times New Roman" pitchFamily="18" charset="0"/>
              </a:rPr>
              <a:t>Automate alerts for hazardous AQI threshold breaches, sudden pollution spikes, and unusual sensor readings.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sz="1600" b="0" dirty="0">
                <a:latin typeface="Times New Roman" pitchFamily="18" charset="0"/>
                <a:cs typeface="Times New Roman" pitchFamily="18" charset="0"/>
              </a:rPr>
              <a:t>Ensure interoperability through open data APIs (e.g., CPCB, OpenAQ, satellite feeds) for integration with government and research systems.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sz="1600" b="0" dirty="0">
                <a:latin typeface="Times New Roman" pitchFamily="18" charset="0"/>
                <a:cs typeface="Times New Roman" pitchFamily="18" charset="0"/>
              </a:rPr>
              <a:t>Reduce manual monitoring effort and improve early warning and public response through intelligent automation and predictive analytics.</a:t>
            </a:r>
          </a:p>
        </p:txBody>
      </p:sp>
    </p:spTree>
    <p:extLst>
      <p:ext uri="{BB962C8B-B14F-4D97-AF65-F5344CB8AC3E}">
        <p14:creationId xmlns:p14="http://schemas.microsoft.com/office/powerpoint/2010/main" val="3917782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EF2FA-32F2-6715-843F-6ACC796D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0062CA-E93E-DFB0-5A22-1412AB9A6752}"/>
              </a:ext>
            </a:extLst>
          </p:cNvPr>
          <p:cNvSpPr txBox="1"/>
          <p:nvPr/>
        </p:nvSpPr>
        <p:spPr>
          <a:xfrm>
            <a:off x="700000" y="600078"/>
            <a:ext cx="1079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/>
              <a:t>Expected Outcomes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77B92A-0C12-D39A-8847-98719E7B6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03" name="Problem Gap Content"/>
          <p:cNvSpPr txBox="1"/>
          <p:nvPr/>
        </p:nvSpPr>
        <p:spPr>
          <a:xfrm>
            <a:off x="800100" y="1750000"/>
            <a:ext cx="10600000" cy="46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285750" indent="-285750" algn="just">
              <a:buFont typeface="Arial" pitchFamily="34" charset="0"/>
              <a:buChar char="•"/>
            </a:pPr>
            <a:r>
              <a:rPr lang="en-US" sz="1600" b="0" dirty="0">
                <a:latin typeface="Times New Roman" pitchFamily="18" charset="0"/>
                <a:cs typeface="Times New Roman" pitchFamily="18" charset="0"/>
              </a:rPr>
              <a:t>A unified, scalable Big-Data platform that ingests, processes, and visualizes air-quality data from multiple sources in real time.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sz="1600" b="0" dirty="0">
                <a:latin typeface="Times New Roman" pitchFamily="18" charset="0"/>
                <a:cs typeface="Times New Roman" pitchFamily="18" charset="0"/>
              </a:rPr>
              <a:t>Earlier detection of pollution spikes and hazardous AQI zones through predictive analytics rather than static, after-the-fact reporting.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sz="1600" b="0" dirty="0">
                <a:latin typeface="Times New Roman" pitchFamily="18" charset="0"/>
                <a:cs typeface="Times New Roman" pitchFamily="18" charset="0"/>
              </a:rPr>
              <a:t>Interactive dashboards that give citizens and policymakers real-time visibility into regional and city-level air-quality risk.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sz="1600" b="0" dirty="0">
                <a:latin typeface="Times New Roman" pitchFamily="18" charset="0"/>
                <a:cs typeface="Times New Roman" pitchFamily="18" charset="0"/>
              </a:rPr>
              <a:t>Reduced manual monitoring effort through automated data ingestion, forecasting, and alerting.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sz="1600" b="0" dirty="0">
                <a:latin typeface="Times New Roman" pitchFamily="18" charset="0"/>
                <a:cs typeface="Times New Roman" pitchFamily="18" charset="0"/>
              </a:rPr>
              <a:t>A scalable, interoperable system that can extend to new sensors, pollutants, and regions over time.</a:t>
            </a:r>
          </a:p>
        </p:txBody>
      </p:sp>
    </p:spTree>
    <p:extLst>
      <p:ext uri="{BB962C8B-B14F-4D97-AF65-F5344CB8AC3E}">
        <p14:creationId xmlns:p14="http://schemas.microsoft.com/office/powerpoint/2010/main" val="20658760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CD11AD-3AF5-B626-2B60-0567E4585B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44012633"/>
              </p:ext>
            </p:extLst>
          </p:nvPr>
        </p:nvGraphicFramePr>
        <p:xfrm>
          <a:off x="274646" y="689466"/>
          <a:ext cx="11642705" cy="5125357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089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5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61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365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65714">
                  <a:extLst>
                    <a:ext uri="{9D8B030D-6E8A-4147-A177-3AD203B41FA5}">
                      <a16:colId xmlns:a16="http://schemas.microsoft.com/office/drawing/2014/main" val="1396003017"/>
                    </a:ext>
                  </a:extLst>
                </a:gridCol>
              </a:tblGrid>
              <a:tr h="3879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Authors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Title of the Paper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Methodology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Inferences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Limitation/Future work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dirty="0">
                          <a:latin typeface="Times New Roman" pitchFamily="18" charset="0"/>
                          <a:cs typeface="Times New Roman" pitchFamily="18" charset="0"/>
                        </a:rPr>
                        <a:t>Rahman, Hasan, Akter &amp; Mia (2026)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dirty="0">
                          <a:latin typeface="Times New Roman" pitchFamily="18" charset="0"/>
                          <a:cs typeface="Times New Roman" pitchFamily="18" charset="0"/>
                        </a:rPr>
                        <a:t>Air Pollution Monitoring and Prediction using Big Data Analytics and Machine Learning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dirty="0">
                          <a:latin typeface="Times New Roman" pitchFamily="18" charset="0"/>
                          <a:cs typeface="Times New Roman" pitchFamily="18" charset="0"/>
                        </a:rPr>
                        <a:t>Applied SVM, regression, XGBoost, ANN, and a stacked ensemble to multi-year hourly pollution and meteorological data from a Bangladeshi district.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dirty="0">
                          <a:latin typeface="Times New Roman" pitchFamily="18" charset="0"/>
                          <a:cs typeface="Times New Roman" pitchFamily="18" charset="0"/>
                        </a:rPr>
                        <a:t>The ensemble classified air quality with about 99.6% accuracy and reliably predicted PM2.5, PM10, NO2, SO2, CO, and O3 levels.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dirty="0">
                          <a:latin typeface="Times New Roman" pitchFamily="18" charset="0"/>
                          <a:cs typeface="Times New Roman" pitchFamily="18" charset="0"/>
                        </a:rPr>
                        <a:t>Single-region case study with heavy ensemble computation; limited testing on live, streaming Big-Data infrastructure.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00"/>
                  </a:ext>
                </a:extLst>
              </a:tr>
              <a:tr h="118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dirty="0">
                          <a:latin typeface="Times New Roman" pitchFamily="18" charset="0"/>
                          <a:cs typeface="Times New Roman" pitchFamily="18" charset="0"/>
                        </a:rPr>
                        <a:t>Kang, Gao, Chiao, Lu &amp; Xie (2018)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dirty="0">
                          <a:latin typeface="Times New Roman" pitchFamily="18" charset="0"/>
                          <a:cs typeface="Times New Roman" pitchFamily="18" charset="0"/>
                        </a:rPr>
                        <a:t>Air Quality Prediction: Big Data and Machine Learning Approaches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dirty="0">
                          <a:latin typeface="Times New Roman" pitchFamily="18" charset="0"/>
                          <a:cs typeface="Times New Roman" pitchFamily="18" charset="0"/>
                        </a:rPr>
                        <a:t>Compared four regression techniques for pollution prediction on IoT sensor data, executed on Apache Spark for scalability.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dirty="0">
                          <a:latin typeface="Times New Roman" pitchFamily="18" charset="0"/>
                          <a:cs typeface="Times New Roman" pitchFamily="18" charset="0"/>
                        </a:rPr>
                        <a:t>Big-Data frameworks such as Spark improve processing time for large-scale pollution datasets and support smart-city monitoring.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dirty="0">
                          <a:latin typeface="Times New Roman" pitchFamily="18" charset="0"/>
                          <a:cs typeface="Times New Roman" pitchFamily="18" charset="0"/>
                        </a:rPr>
                        <a:t>Focus limited to processing-time benchmarking; no integration with a live dashboard or alerting system.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01"/>
                  </a:ext>
                </a:extLst>
              </a:tr>
              <a:tr h="118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dirty="0">
                          <a:latin typeface="Times New Roman" pitchFamily="18" charset="0"/>
                          <a:cs typeface="Times New Roman" pitchFamily="18" charset="0"/>
                        </a:rPr>
                        <a:t>Özüpak, Alpsalaz &amp; Aslan (2025)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dirty="0">
                          <a:latin typeface="Times New Roman" pitchFamily="18" charset="0"/>
                          <a:cs typeface="Times New Roman" pitchFamily="18" charset="0"/>
                        </a:rPr>
                        <a:t>Air Quality Forecasting Using Machine Learning: Comparative Analysis and Ensemble Strategies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dirty="0">
                          <a:latin typeface="Times New Roman" pitchFamily="18" charset="0"/>
                          <a:cs typeface="Times New Roman" pitchFamily="18" charset="0"/>
                        </a:rPr>
                        <a:t>Evaluated ten regression models (XGBoost, LightGBM, Random Forest, CatBoost, SVR, and others) with Bayesian hyperparameter optimization on hourly pollutant sensor data.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dirty="0">
                          <a:latin typeface="Times New Roman" pitchFamily="18" charset="0"/>
                          <a:cs typeface="Times New Roman" pitchFamily="18" charset="0"/>
                        </a:rPr>
                        <a:t>Tuned ensemble models, especially Bayesian-optimized SVR, substantially improved AQI forecasting accuracy over baseline models.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dirty="0">
                          <a:latin typeface="Times New Roman" pitchFamily="18" charset="0"/>
                          <a:cs typeface="Times New Roman" pitchFamily="18" charset="0"/>
                        </a:rPr>
                        <a:t>Single urban dataset spanning one year; high computational cost; not evaluated at Big-Data scale.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02"/>
                  </a:ext>
                </a:extLst>
              </a:tr>
              <a:tr h="118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dirty="0">
                          <a:latin typeface="Times New Roman" pitchFamily="18" charset="0"/>
                          <a:cs typeface="Times New Roman" pitchFamily="18" charset="0"/>
                        </a:rPr>
                        <a:t>Rajesh, Ganesh Babu, Moorthy &amp; Easwaramoorthy (2025)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dirty="0">
                          <a:latin typeface="Times New Roman" pitchFamily="18" charset="0"/>
                          <a:cs typeface="Times New Roman" pitchFamily="18" charset="0"/>
                        </a:rPr>
                        <a:t>Machine Learning-Driven Framework for Real-Time Air Quality Assessment and Predictive Environmental Health Risk Mapping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dirty="0">
                          <a:latin typeface="Times New Roman" pitchFamily="18" charset="0"/>
                          <a:cs typeface="Times New Roman" pitchFamily="18" charset="0"/>
                        </a:rPr>
                        <a:t>Integrated fixed/mobile sensors, meteorological, satellite, and demographic data with Random Forest, Gradient Boosting, XGBoost, and LSTM models in a cloud-based framework.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dirty="0">
                          <a:latin typeface="Times New Roman" pitchFamily="18" charset="0"/>
                          <a:cs typeface="Times New Roman" pitchFamily="18" charset="0"/>
                        </a:rPr>
                        <a:t>Multi-source integration enables high-accuracy, real-time pollutant classification and health-risk mapping across diverse environments.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dirty="0">
                          <a:latin typeface="Times New Roman" pitchFamily="18" charset="0"/>
                          <a:cs typeface="Times New Roman" pitchFamily="18" charset="0"/>
                        </a:rPr>
                        <a:t>Data heterogeneity and sensor-calibration challenges; not yet validated with real-world sensor deployment or public dashboards.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03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48F0022-391A-4CFC-2851-87E76B37EAC2}"/>
              </a:ext>
            </a:extLst>
          </p:cNvPr>
          <p:cNvSpPr txBox="1"/>
          <p:nvPr/>
        </p:nvSpPr>
        <p:spPr>
          <a:xfrm>
            <a:off x="4560565" y="136525"/>
            <a:ext cx="3070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64C8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Literature Survey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9784944-5437-9E89-7017-F3DB9CA91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418F-4DEE-4BB1-940B-1145D135750E}" type="slidenum">
              <a:rPr lang="en-IN" smtClean="0"/>
              <a:t>6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3EBAEA-8DC6-8F54-F0D6-38F9643BD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2770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AA2CC-2C9A-D968-2F38-FFC4A7D23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F7CE10-08D9-83CF-7508-12575531E1E0}"/>
              </a:ext>
            </a:extLst>
          </p:cNvPr>
          <p:cNvSpPr txBox="1"/>
          <p:nvPr/>
        </p:nvSpPr>
        <p:spPr>
          <a:xfrm>
            <a:off x="1096000" y="551058"/>
            <a:ext cx="10000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600" b="1" dirty="0"/>
              <a:t>Proposed Solution: How AQIS Addresses the Gap</a:t>
            </a:r>
          </a:p>
        </p:txBody>
      </p:sp>
      <p:sp>
        <p:nvSpPr>
          <p:cNvPr id="2" name="Feasibility Explanation"/>
          <p:cNvSpPr txBox="1"/>
          <p:nvPr/>
        </p:nvSpPr>
        <p:spPr>
          <a:xfrm>
            <a:off x="800100" y="1350000"/>
            <a:ext cx="10600000" cy="115000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marL="0" indent="0">
              <a:buNone/>
            </a:pPr>
            <a:r>
              <a:rPr lang="en-US" sz="1500" b="0" dirty="0">
                <a:latin typeface="Times New Roman" pitchFamily="18" charset="0"/>
                <a:cs typeface="Times New Roman" pitchFamily="18" charset="0"/>
              </a:rPr>
              <a:t>AQIS (Air Quality Intelligence System) is proposed as a unified Big-Data and Python-based air-quality analytics and forecasting platform that combines real-time multi-source data ingestion, distributed processing, and machine-learning-driven prediction with an interactive decision-support dashboard. By pairing scalable streaming pipelines (Kafka/Spark) with Python-based forecasting models and role-based dashboards, AQIS moves air-quality monitoring from static, after-the-fact reporting toward proactive, real-time decision support.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71D25F-D310-56FA-A58E-B7B79C7D8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graphicFrame>
        <p:nvGraphicFramePr>
          <p:cNvPr id="20" name="Research Gap Table"/>
          <p:cNvGraphicFramePr>
            <a:graphicFrameLocks noGrp="1"/>
          </p:cNvGraphicFramePr>
          <p:nvPr/>
        </p:nvGraphicFramePr>
        <p:xfrm>
          <a:off x="800100" y="2750000"/>
          <a:ext cx="10599996" cy="348580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36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999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00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latin typeface="Times New Roman" pitchFamily="18" charset="0"/>
                          <a:cs typeface="Times New Roman" pitchFamily="18" charset="0"/>
                        </a:rPr>
                        <a:t>Research Gap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latin typeface="Times New Roman" pitchFamily="18" charset="0"/>
                          <a:cs typeface="Times New Roman" pitchFamily="18" charset="0"/>
                        </a:rPr>
                        <a:t>How AQIS Addresses It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0" dirty="0">
                          <a:latin typeface="Times New Roman" pitchFamily="18" charset="0"/>
                          <a:cs typeface="Times New Roman" pitchFamily="18" charset="0"/>
                        </a:rPr>
                        <a:t>Single-function tools address only prediction, only visualization, or only Big-Data benchmarking.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0" dirty="0">
                          <a:latin typeface="Times New Roman" pitchFamily="18" charset="0"/>
                          <a:cs typeface="Times New Roman" pitchFamily="18" charset="0"/>
                        </a:rPr>
                        <a:t>AQIS unifies data ingestion, distributed processing, forecasting, and visualization in one platform.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00"/>
                  </a:ext>
                </a:extLst>
              </a:tr>
              <a:tr h="60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0" dirty="0">
                          <a:latin typeface="Times New Roman" pitchFamily="18" charset="0"/>
                          <a:cs typeface="Times New Roman" pitchFamily="18" charset="0"/>
                        </a:rPr>
                        <a:t>High model accuracy in reviewed studies, but tested on static datasets rather than live streaming infrastructure.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0" dirty="0">
                          <a:latin typeface="Times New Roman" pitchFamily="18" charset="0"/>
                          <a:cs typeface="Times New Roman" pitchFamily="18" charset="0"/>
                        </a:rPr>
                        <a:t>Built on a Kafka/Spark streaming pipeline that applies Python-based ML models to live sensor and satellite feeds.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00"/>
                  </a:ext>
                </a:extLst>
              </a:tr>
              <a:tr h="60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0" dirty="0">
                          <a:latin typeface="Times New Roman" pitchFamily="18" charset="0"/>
                          <a:cs typeface="Times New Roman" pitchFamily="18" charset="0"/>
                        </a:rPr>
                        <a:t>Big-Data benchmarking studies stop at processing speed and are not connected to a public dashboard.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0" dirty="0">
                          <a:latin typeface="Times New Roman" pitchFamily="18" charset="0"/>
                          <a:cs typeface="Times New Roman" pitchFamily="18" charset="0"/>
                        </a:rPr>
                        <a:t>Processed data flows directly into an interactive, real-time AQI dashboard for citizens and officials.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000"/>
                  </a:ext>
                </a:extLst>
              </a:tr>
              <a:tr h="60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0" dirty="0">
                          <a:latin typeface="Times New Roman" pitchFamily="18" charset="0"/>
                          <a:cs typeface="Times New Roman" pitchFamily="18" charset="0"/>
                        </a:rPr>
                        <a:t>Tuned ensemble models are computationally heavy and evaluated on a single city or dataset.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0" dirty="0">
                          <a:latin typeface="Times New Roman" pitchFamily="18" charset="0"/>
                          <a:cs typeface="Times New Roman" pitchFamily="18" charset="0"/>
                        </a:rPr>
                        <a:t>Lightweight, scalable Python forecasting models are designed to generalize across cities and regions.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000"/>
                  </a:ext>
                </a:extLst>
              </a:tr>
              <a:tr h="6000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0" dirty="0">
                          <a:latin typeface="Times New Roman" pitchFamily="18" charset="0"/>
                          <a:cs typeface="Times New Roman" pitchFamily="18" charset="0"/>
                        </a:rPr>
                        <a:t>No single system spans real-time ingestion, prediction, and public decision support.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0" dirty="0">
                          <a:latin typeface="Times New Roman" pitchFamily="18" charset="0"/>
                          <a:cs typeface="Times New Roman" pitchFamily="18" charset="0"/>
                        </a:rPr>
                        <a:t>A full pipeline: ingestion → distributed processing → forecasting → dashboard → automated alerts.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88552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701040" y="358218"/>
            <a:ext cx="107899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latin typeface="Aptos Display"/>
              </a:defRPr>
            </a:pPr>
            <a:r>
              <a:rPr dirty="0"/>
              <a:t>Technology 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latin typeface="Aptos"/>
              </a:defRPr>
            </a:pPr>
            <a:r>
              <a:t>Programming &amp; ML</a:t>
            </a:r>
          </a:p>
          <a:p>
            <a:pPr>
              <a:spcAft>
                <a:spcPts val="400"/>
              </a:spcAft>
              <a:defRPr sz="1600">
                <a:latin typeface="Aptos"/>
              </a:defRPr>
            </a:pPr>
            <a:r>
              <a:t>• Python</a:t>
            </a:r>
          </a:p>
          <a:p>
            <a:pPr>
              <a:spcAft>
                <a:spcPts val="400"/>
              </a:spcAft>
              <a:defRPr sz="1600">
                <a:latin typeface="Aptos"/>
              </a:defRPr>
            </a:pPr>
            <a:r>
              <a:t>•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182880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latin typeface="Aptos"/>
              </a:defRPr>
            </a:pPr>
            <a:r>
              <a:t>Big Data &amp; Streaming</a:t>
            </a:r>
          </a:p>
          <a:p>
            <a:pPr>
              <a:spcAft>
                <a:spcPts val="400"/>
              </a:spcAft>
              <a:defRPr sz="1600">
                <a:latin typeface="Aptos"/>
              </a:defRPr>
            </a:pPr>
            <a:r>
              <a:t>• Apache Spark</a:t>
            </a:r>
          </a:p>
          <a:p>
            <a:pPr>
              <a:spcAft>
                <a:spcPts val="400"/>
              </a:spcAft>
              <a:defRPr sz="1600">
                <a:latin typeface="Aptos"/>
              </a:defRPr>
            </a:pPr>
            <a:r>
              <a:t>• Apache Kafka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88620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latin typeface="Aptos"/>
              </a:defRPr>
            </a:pPr>
            <a:r>
              <a:t>Storage &amp; Caching</a:t>
            </a:r>
          </a:p>
          <a:p>
            <a:pPr>
              <a:spcAft>
                <a:spcPts val="400"/>
              </a:spcAft>
              <a:defRPr sz="1600">
                <a:latin typeface="Aptos"/>
              </a:defRPr>
            </a:pPr>
            <a:r>
              <a:t>• Data Lake</a:t>
            </a:r>
          </a:p>
          <a:p>
            <a:pPr>
              <a:spcAft>
                <a:spcPts val="400"/>
              </a:spcAft>
              <a:defRPr sz="1600">
                <a:latin typeface="Aptos"/>
              </a:defRPr>
            </a:pPr>
            <a:r>
              <a:t>• InfluxDB</a:t>
            </a:r>
          </a:p>
          <a:p>
            <a:pPr>
              <a:spcAft>
                <a:spcPts val="400"/>
              </a:spcAft>
              <a:defRPr sz="1600">
                <a:latin typeface="Aptos"/>
              </a:defRPr>
            </a:pPr>
            <a:r>
              <a:t>• Redis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388620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latin typeface="Aptos"/>
              </a:defRPr>
            </a:pPr>
            <a:r>
              <a:t>Data Sources &amp; Visualization</a:t>
            </a:r>
          </a:p>
          <a:p>
            <a:pPr>
              <a:spcAft>
                <a:spcPts val="400"/>
              </a:spcAft>
              <a:defRPr sz="1600">
                <a:latin typeface="Aptos"/>
              </a:defRPr>
            </a:pPr>
            <a:r>
              <a:t>• OpenAQ / CPCB APIs</a:t>
            </a:r>
          </a:p>
          <a:p>
            <a:pPr>
              <a:spcAft>
                <a:spcPts val="400"/>
              </a:spcAft>
              <a:defRPr sz="1600">
                <a:latin typeface="Aptos"/>
              </a:defRPr>
            </a:pPr>
            <a:r>
              <a:t>• IoT &amp; Satellite Data</a:t>
            </a:r>
          </a:p>
          <a:p>
            <a:pPr>
              <a:spcAft>
                <a:spcPts val="400"/>
              </a:spcAft>
              <a:defRPr sz="1600">
                <a:latin typeface="Aptos"/>
              </a:defRPr>
            </a:pPr>
            <a:r>
              <a:t>• Interactive AQI Dashboard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C4EA4F-6C2E-9A9A-23FE-1277E43964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BD4C9C-9DEB-26F4-AA75-F51C06DD64DC}"/>
              </a:ext>
            </a:extLst>
          </p:cNvPr>
          <p:cNvSpPr txBox="1"/>
          <p:nvPr/>
        </p:nvSpPr>
        <p:spPr>
          <a:xfrm>
            <a:off x="3534920" y="310613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System Architecture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pic>
        <p:nvPicPr>
          <p:cNvPr id="6" name="Picture 5" descr="cropped_re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5664" y="1329005"/>
            <a:ext cx="7069841" cy="4937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561079" y="6629400"/>
            <a:ext cx="7069841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i="1">
                <a:solidFill>
                  <a:srgbClr val="34495E"/>
                </a:solidFill>
                <a:latin typeface="Times New Roman"/>
              </a:rPr>
              <a:t>Retail Web Platform – Conceptual Data Architecture (reference pattern)</a:t>
            </a:r>
          </a:p>
        </p:txBody>
      </p:sp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4AF34-8CFC-8161-A3CD-DED259C9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F508849-A0DD-12D4-FD0D-5322CA138B2F}"/>
              </a:ext>
            </a:extLst>
          </p:cNvPr>
          <p:cNvSpPr txBox="1"/>
          <p:nvPr/>
        </p:nvSpPr>
        <p:spPr>
          <a:xfrm>
            <a:off x="900000" y="330000"/>
            <a:ext cx="10392000" cy="9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lang="en-US" sz="3200" b="1" dirty="0"/>
              <a:t>Methodology, System Design, and Architecture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2C6E66-DFCA-CBBA-3972-F62C5800A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02" name="Objectives Content"/>
          <p:cNvSpPr txBox="1"/>
          <p:nvPr/>
        </p:nvSpPr>
        <p:spPr>
          <a:xfrm>
            <a:off x="800100" y="1400000"/>
            <a:ext cx="10600000" cy="51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285750" indent="-285750" algn="just">
              <a:buFont typeface="Arial" pitchFamily="34" charset="0"/>
              <a:buChar char="•"/>
            </a:pPr>
            <a:r>
              <a:rPr lang="en-US" sz="1600" b="0" dirty="0">
                <a:latin typeface="Times New Roman" pitchFamily="18" charset="0"/>
                <a:cs typeface="Times New Roman" pitchFamily="18" charset="0"/>
              </a:rPr>
              <a:t>Methodology follows five stages: data ingestion, distributed processing, ML-based forecasting, visualization, and automated alerting.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sz="1600" b="0" dirty="0">
                <a:latin typeface="Times New Roman" pitchFamily="18" charset="0"/>
                <a:cs typeface="Times New Roman" pitchFamily="18" charset="0"/>
              </a:rPr>
              <a:t>Data ingestion layer collects readings from government monitors, satellite feeds, and IoT/traffic sensors through OpenAQ/CPCB APIs.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sz="1600" b="0" dirty="0">
                <a:latin typeface="Times New Roman" pitchFamily="18" charset="0"/>
                <a:cs typeface="Times New Roman" pitchFamily="18" charset="0"/>
              </a:rPr>
              <a:t>Apache Kafka streams incoming sensor events to Apache Spark, which cleans, aggregates, and distributes the data in real time.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sz="1600" b="0" dirty="0">
                <a:latin typeface="Times New Roman" pitchFamily="18" charset="0"/>
                <a:cs typeface="Times New Roman" pitchFamily="18" charset="0"/>
              </a:rPr>
              <a:t>Processed data is persisted in a Data Lake for historical analysis and in InfluxDB/Redis for low-latency, real-time queries.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sz="1600" b="0" dirty="0">
                <a:latin typeface="Times New Roman" pitchFamily="18" charset="0"/>
                <a:cs typeface="Times New Roman" pitchFamily="18" charset="0"/>
              </a:rPr>
              <a:t>Python-based machine-learning models consume this data to forecast AQI, predict pollutant levels, and classify pollution sources.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sz="1600" b="0" dirty="0">
                <a:latin typeface="Times New Roman" pitchFamily="18" charset="0"/>
                <a:cs typeface="Times New Roman" pitchFamily="18" charset="0"/>
              </a:rPr>
              <a:t>A layered architecture (ingestion, processing, storage, analytics, and presentation) keeps components loosely coupled and independently scalable.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sz="1600" b="0" dirty="0">
                <a:latin typeface="Times New Roman" pitchFamily="18" charset="0"/>
                <a:cs typeface="Times New Roman" pitchFamily="18" charset="0"/>
              </a:rPr>
              <a:t>The presentation layer exposes forecasts and alerts through an interactive AQI dashboard, feeding threshold-based automated alerts.</a:t>
            </a:r>
          </a:p>
        </p:txBody>
      </p:sp>
    </p:spTree>
    <p:extLst>
      <p:ext uri="{BB962C8B-B14F-4D97-AF65-F5344CB8AC3E}">
        <p14:creationId xmlns:p14="http://schemas.microsoft.com/office/powerpoint/2010/main" val="39177829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900000" y="330000"/>
            <a:ext cx="10392000" cy="7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3000" b="1">
                <a:latin typeface="Aptos Display"/>
              </a:defRPr>
            </a:pPr>
            <a:r>
              <a:rPr sz="3000" b="1" dirty="0"/>
              <a:t>Use of Modern Tools and Technologies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latin typeface="Aptos"/>
              </a:defRPr>
            </a:pPr>
            <a:r>
              <a:t>Modern Programming &amp; ML</a:t>
            </a:r>
          </a:p>
          <a:p>
            <a:pPr>
              <a:spcAft>
                <a:spcPts val="400"/>
              </a:spcAft>
              <a:defRPr sz="1600">
                <a:latin typeface="Aptos"/>
              </a:defRPr>
            </a:pPr>
            <a:r>
              <a:t>• Python (pandas, scikit-learn)</a:t>
            </a:r>
          </a:p>
          <a:p>
            <a:pPr>
              <a:spcAft>
                <a:spcPts val="400"/>
              </a:spcAft>
              <a:defRPr sz="1600">
                <a:latin typeface="Aptos"/>
              </a:defRPr>
            </a:pPr>
            <a:r>
              <a:t>• ML models for AQI forecasting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182880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latin typeface="Aptos"/>
              </a:defRPr>
            </a:pPr>
            <a:r>
              <a:t>Distributed Streaming</a:t>
            </a:r>
          </a:p>
          <a:p>
            <a:pPr>
              <a:spcAft>
                <a:spcPts val="400"/>
              </a:spcAft>
              <a:defRPr sz="1600">
                <a:latin typeface="Aptos"/>
              </a:defRPr>
            </a:pPr>
            <a:r>
              <a:t>• Apache Spark for distributed processing</a:t>
            </a:r>
          </a:p>
          <a:p>
            <a:pPr>
              <a:spcAft>
                <a:spcPts val="400"/>
              </a:spcAft>
              <a:defRPr sz="1600">
                <a:latin typeface="Aptos"/>
              </a:defRPr>
            </a:pPr>
            <a:r>
              <a:t>• Apache Kafka for real-time ingestion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88620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latin typeface="Aptos"/>
              </a:defRPr>
            </a:pPr>
            <a:r>
              <a:t>Cloud-Ready Storage</a:t>
            </a:r>
          </a:p>
          <a:p>
            <a:pPr>
              <a:spcAft>
                <a:spcPts val="400"/>
              </a:spcAft>
              <a:defRPr sz="1600">
                <a:latin typeface="Aptos"/>
              </a:defRPr>
            </a:pPr>
            <a:r>
              <a:t>• Data Lake for historical data</a:t>
            </a:r>
          </a:p>
          <a:p>
            <a:pPr>
              <a:spcAft>
                <a:spcPts val="400"/>
              </a:spcAft>
              <a:defRPr sz="1600">
                <a:latin typeface="Aptos"/>
              </a:defRPr>
            </a:pPr>
            <a:r>
              <a:t>• InfluxDB for time-series queries</a:t>
            </a:r>
          </a:p>
          <a:p>
            <a:pPr>
              <a:spcAft>
                <a:spcPts val="400"/>
              </a:spcAft>
              <a:defRPr sz="1600">
                <a:latin typeface="Aptos"/>
              </a:defRPr>
            </a:pPr>
            <a:r>
              <a:t>• Redis for low-latency caching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388620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latin typeface="Aptos"/>
              </a:defRPr>
            </a:pPr>
            <a:r>
              <a:t>Open APIs &amp; Visualization</a:t>
            </a:r>
          </a:p>
          <a:p>
            <a:pPr>
              <a:spcAft>
                <a:spcPts val="400"/>
              </a:spcAft>
              <a:defRPr sz="1600">
                <a:latin typeface="Aptos"/>
              </a:defRPr>
            </a:pPr>
            <a:r>
              <a:t>• OpenAQ / CPCB open data APIs</a:t>
            </a:r>
          </a:p>
          <a:p>
            <a:pPr>
              <a:spcAft>
                <a:spcPts val="400"/>
              </a:spcAft>
              <a:defRPr sz="1600">
                <a:latin typeface="Aptos"/>
              </a:defRPr>
            </a:pPr>
            <a:r>
              <a:t>• IoT sensor &amp; satellite feeds</a:t>
            </a:r>
          </a:p>
          <a:p>
            <a:pPr>
              <a:spcAft>
                <a:spcPts val="400"/>
              </a:spcAft>
              <a:defRPr sz="1600">
                <a:latin typeface="Aptos"/>
              </a:defRPr>
            </a:pPr>
            <a:r>
              <a:t>• Interactive real-time AQI dashboard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C4EA4F-6C2E-9A9A-23FE-1277E43964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4AF34-8CFC-8161-A3CD-DED259C9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F508849-A0DD-12D4-FD0D-5322CA138B2F}"/>
              </a:ext>
            </a:extLst>
          </p:cNvPr>
          <p:cNvSpPr txBox="1"/>
          <p:nvPr/>
        </p:nvSpPr>
        <p:spPr>
          <a:xfrm>
            <a:off x="900000" y="330000"/>
            <a:ext cx="10392000" cy="9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lang="en-US" sz="3200" b="1" dirty="0"/>
              <a:t>Implementation, Coding Quality, and Functionality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2C6E66-DFCA-CBBA-3972-F62C5800A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02" name="Objectives Content"/>
          <p:cNvSpPr txBox="1"/>
          <p:nvPr/>
        </p:nvSpPr>
        <p:spPr>
          <a:xfrm>
            <a:off x="800100" y="1400000"/>
            <a:ext cx="10600000" cy="51000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285750" indent="-285750" algn="just">
              <a:buFont typeface="Arial" pitchFamily="34" charset="0"/>
              <a:buChar char="•"/>
            </a:pPr>
            <a:r>
              <a:rPr lang="en-US" sz="1600" b="0" dirty="0">
                <a:latin typeface="Times New Roman" pitchFamily="18" charset="0"/>
                <a:cs typeface="Times New Roman" pitchFamily="18" charset="0"/>
              </a:rPr>
              <a:t>Core modules implemented: data-ingestion connectors, the Kafka/Spark streaming pipeline, ML forecasting models, and the interactive AQI dashboard.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sz="1600" b="0" dirty="0">
                <a:latin typeface="Times New Roman" pitchFamily="18" charset="0"/>
                <a:cs typeface="Times New Roman" pitchFamily="18" charset="0"/>
              </a:rPr>
              <a:t>Code is organized into modular, reusable Python packages, separating ingestion, processing, modeling, and visualization logic.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sz="1600" b="0" dirty="0">
                <a:latin typeface="Times New Roman" pitchFamily="18" charset="0"/>
                <a:cs typeface="Times New Roman" pitchFamily="18" charset="0"/>
              </a:rPr>
              <a:t>Coding quality is maintained through PEP 8 style conventions, inline documentation, and Git-based version control with incremental commits.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sz="1600" b="0" dirty="0">
                <a:latin typeface="Times New Roman" pitchFamily="18" charset="0"/>
                <a:cs typeface="Times New Roman" pitchFamily="18" charset="0"/>
              </a:rPr>
              <a:t>Unit and integration testing validate data-ingestion accuracy, streaming reliability, and forecasting-model outputs before deployment.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sz="1600" b="0" dirty="0">
                <a:latin typeface="Times New Roman" pitchFamily="18" charset="0"/>
                <a:cs typeface="Times New Roman" pitchFamily="18" charset="0"/>
              </a:rPr>
              <a:t>Functional dashboard delivers real-time AQI visualization, historical trend views, and threshold-based alerts for hazardous readings.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sz="1600" b="0" dirty="0">
                <a:latin typeface="Times New Roman" pitchFamily="18" charset="0"/>
                <a:cs typeface="Times New Roman" pitchFamily="18" charset="0"/>
              </a:rPr>
              <a:t>Error handling and logging are built into the pipeline to ensure graceful recovery from missing or malformed sensor data.</a:t>
            </a:r>
          </a:p>
          <a:p>
            <a:pPr marL="285750" indent="-285750" algn="just">
              <a:buFont typeface="Arial" pitchFamily="34" charset="0"/>
              <a:buChar char="•"/>
            </a:pPr>
            <a:r>
              <a:rPr lang="en-US" sz="1600" b="0" dirty="0">
                <a:latin typeface="Times New Roman" pitchFamily="18" charset="0"/>
                <a:cs typeface="Times New Roman" pitchFamily="18" charset="0"/>
              </a:rPr>
              <a:t>The implementation is designed for extensibility, allowing new sensors, pollutants, or regions to be added with minimal code changes.</a:t>
            </a:r>
          </a:p>
        </p:txBody>
      </p:sp>
    </p:spTree>
    <p:extLst>
      <p:ext uri="{BB962C8B-B14F-4D97-AF65-F5344CB8AC3E}">
        <p14:creationId xmlns:p14="http://schemas.microsoft.com/office/powerpoint/2010/main" val="39177829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</TotalTime>
  <Words>1525</Words>
  <Application>Microsoft Office PowerPoint</Application>
  <PresentationFormat>Widescreen</PresentationFormat>
  <Paragraphs>150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Aptos</vt:lpstr>
      <vt:lpstr>Aptos Display</vt:lpstr>
      <vt:lpstr>Arial</vt:lpstr>
      <vt:lpstr>Calibri</vt:lpstr>
      <vt:lpstr>Calibri Light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Dasari Dinesh Kumar</cp:lastModifiedBy>
  <cp:revision>42</cp:revision>
  <dcterms:created xsi:type="dcterms:W3CDTF">2026-08-08T06:33:56Z</dcterms:created>
  <dcterms:modified xsi:type="dcterms:W3CDTF">2026-09-19T04:54:25Z</dcterms:modified>
</cp:coreProperties>
</file>