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1"/>
  </p:notesMasterIdLst>
  <p:sldIdLst>
    <p:sldId id="262" r:id="rId3"/>
    <p:sldId id="904" r:id="rId16"/>
    <p:sldId id="90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2.xml"/><Relationship Id="rId17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A666E0-C270-4F2D-A5DC-96BE795B540E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19044B-B5AF-477C-950C-4ED5126343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606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84AE20-9EAE-4BB7-93AC-7EFA05BCA1CF}" type="slidenum">
              <a:rPr lang="en-IN" smtClean="0"/>
              <a:t>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74734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2BE77-A6B4-BF9A-F59F-6A1C17E6D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F4D497-63DE-C270-40A4-331A37D0B0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809C3A-1739-D230-186B-84454F605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63778-C058-1235-D3A3-7BCFF3CD0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A1708-DD63-B8A6-CDE5-A057B2CF8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699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A0280-1254-E679-102E-D8CC13C8C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84D78-2E62-1C74-D557-5115FDC29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02B77-F303-2F09-80CB-35B74D2F5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359BF-B012-085F-389A-331E721BC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0460-9CE8-D43D-79E7-A7A9144A3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162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87D46-3DEF-526E-5F46-4ADACBEC0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A517A-D5B3-3AF2-38BE-1D8998813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602125-0289-3272-156D-A3C31E848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9971A6-CC5A-CC09-A1F2-E284284E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898D5-FC90-9DA1-FE2F-D07DEDDAD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95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89433-0D52-95EF-D78E-4FC912D4F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A2DAE-6EF3-6910-5373-1A5DF4090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1AE70-38B9-B797-DE71-57CAE4C82D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5E50E-F402-07A4-460F-3431CA9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4D7A32-7B4B-0167-CBD3-4FB4F42F7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B928D-DF00-B9C5-1A36-1E52C14CB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198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CFE06-EEED-5CC3-A38A-576DD2C8A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B0BA8C-9EDE-BB49-BD35-49BAFCB8D3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1DDD39-7D2C-4493-F56F-81F6BC3F98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14469B-6213-D34D-07A9-FCDC82AC0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6440F3-3F2D-85CC-D2E2-6D0D54B8A2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346DE1-9818-60AF-EAF8-FFED39BA5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5E9E00-6460-F360-EDFD-B03FBA2C6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BFFDD7-5BFE-EA3B-6250-A381A5695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251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CE0FC-511C-2C2C-E510-CDDF2634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796671-3C71-777F-3A4D-A89D7E5D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024A6A-95A8-2753-339B-FC09D4CAE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9E07AF-B1A0-E180-D5AC-3F2F0031C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466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8527A8-9BA5-6E6B-9B96-E6F6FADC4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AB8C98-6C07-7CF9-228C-EF7E65147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47070-DD15-038E-31F6-EF9EAD920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321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28049-15BD-A06B-510D-51342C765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7F51D-EFF8-F91B-8F7D-613493BF8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686E-4EC3-3B25-F2B1-DEF00AA476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24C9A3-A390-80A1-50AD-21AB6B252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FB16C-3A67-2F8D-2205-B1FF3BE2C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137A69-0E62-6668-A184-42A6DBF6B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48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AFB01-3CD4-CFD9-5A71-411262FAA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DCEFF8-AB3F-42A6-ADAF-1080336CCB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914F7C-5D5A-7C5D-50F2-B5067E1E61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E767C3-2493-217A-8E1D-03F6BBB4A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8FEBF7-64BD-7F85-1240-C02E3705B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64DB1-56E3-B1C9-BED9-904A25C29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973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BCD61-B1C9-A34D-6022-ADB9D4B22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24F7E8-10E7-E6C8-474D-2A06ED5015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E7D405-5D32-C40F-1430-5F5A97DD4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9955A-6D2E-8ABB-AF09-EC9590F01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9E1B21-A5D1-C625-FE7B-A0232576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886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699036-2042-AC93-5117-4059611F3C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2DD23D-712F-710C-F8D8-B4B2B3E059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95516-E45F-6DA1-08EA-04E781DF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7863A-4956-4659-9192-3D74DA4F7578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71DB9-D5C7-9EFA-0532-06B0BAAF4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735D92-5A89-BE34-CC33-93F56B3E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49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6EA6A-8FF5-49DF-BDDD-F7431B447D8F}" type="datetime3">
              <a:rPr lang="en-US" smtClean="0"/>
              <a:t>28 August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8602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11EB6-9770-43AB-BBCE-044F1DB66B82}" type="datetime3">
              <a:rPr lang="en-US" smtClean="0"/>
              <a:t>28 August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82983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905DC-9CDD-41AE-979C-F366BC0443ED}" type="datetime3">
              <a:rPr lang="en-US" smtClean="0"/>
              <a:t>28 August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9923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FAC05-A025-4B8A-AB88-2AE8812F8A48}" type="datetime3">
              <a:rPr lang="en-US" smtClean="0"/>
              <a:t>28 August 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9083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906D5-6813-455D-BAA0-28A983958C32}" type="datetime3">
              <a:rPr lang="en-US" smtClean="0"/>
              <a:t>28 August 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84857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309C4-DF5F-4FAA-9214-A2117415D598}" type="datetime3">
              <a:rPr lang="en-US" smtClean="0"/>
              <a:t>28 August 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38849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683E30-D762-4164-BBF9-9799116ED611}" type="datetime3">
              <a:rPr lang="en-US" smtClean="0"/>
              <a:t>28 August 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8867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EB4AA-F6FE-4EF1-9FE6-D5606E858D35}" type="datetime3">
              <a:rPr lang="en-US" smtClean="0"/>
              <a:t>28 August 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74917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547F9-D0DE-4919-BAA4-23065C38E70B}" type="datetime3">
              <a:rPr lang="en-US" smtClean="0"/>
              <a:t>28 August 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633191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9772-7494-4C65-A0D8-1FBD740B2E65}" type="datetime3">
              <a:rPr lang="en-US" smtClean="0"/>
              <a:t>28 August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75840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089DC-0019-49C7-8AD2-EF5D896393D8}" type="datetime3">
              <a:rPr lang="en-US" smtClean="0"/>
              <a:t>28 August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459547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711898-360B-AD49-DD62-FA3B7B662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2BE89-A274-4461-2B81-505874463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B2A70-C1DC-D783-67E1-97822E79A5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27863A-4956-4659-9192-3D74DA4F7578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5D01A-229C-E067-7B4E-BC254D6544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741767-E51C-1DAB-E3C8-F047E87A83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637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6266A-CA82-4709-A4C2-B8B2AD8F4816}" type="datetime3">
              <a:rPr lang="en-US" smtClean="0"/>
              <a:t>28 August 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Ph.D. Viva Voce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376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D22BC4D-4857-7D81-7819-37B7BB4264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4914002"/>
              </p:ext>
            </p:extLst>
          </p:nvPr>
        </p:nvGraphicFramePr>
        <p:xfrm>
          <a:off x="8193271" y="4898509"/>
          <a:ext cx="3702050" cy="154157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02050">
                  <a:extLst>
                    <a:ext uri="{9D8B030D-6E8A-4147-A177-3AD203B41FA5}">
                      <a16:colId xmlns:a16="http://schemas.microsoft.com/office/drawing/2014/main" val="40058472"/>
                    </a:ext>
                  </a:extLst>
                </a:gridCol>
              </a:tblGrid>
              <a:tr h="15415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Team Members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sz="1600" b="1" dirty="0">
                        <a:solidFill>
                          <a:srgbClr val="C0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Dinesh                                    2420030169</a:t>
                      </a:r>
                      <a:r>
                        <a:rPr lang="en-IN" sz="1600" b="1" dirty="0" err="1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/>
                      </a:r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/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Madhav                                  2420030273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Vallabh                                   2420030029</a:t>
                      </a:r>
                      <a:r>
                        <a:rPr lang="en-IN" sz="1600" b="1" dirty="0" err="1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/>
                      </a:r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/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08782725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B5A8CA37-C090-A9D8-75D0-A7A7D5DEBE24}"/>
              </a:ext>
            </a:extLst>
          </p:cNvPr>
          <p:cNvGrpSpPr/>
          <p:nvPr/>
        </p:nvGrpSpPr>
        <p:grpSpPr>
          <a:xfrm>
            <a:off x="8038280" y="4765558"/>
            <a:ext cx="230240" cy="232995"/>
            <a:chOff x="1567861" y="1613059"/>
            <a:chExt cx="230240" cy="232995"/>
          </a:xfrm>
          <a:solidFill>
            <a:srgbClr val="FF66FF"/>
          </a:solidFill>
        </p:grpSpPr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E48399A6-AAB5-B502-9670-34E0FCDF5541}"/>
                </a:ext>
              </a:extLst>
            </p:cNvPr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highlight>
                  <a:srgbClr val="FFFF00"/>
                </a:highlight>
              </a:endParaRPr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67E59050-351C-0873-0298-AB77EA522C22}"/>
                </a:ext>
              </a:extLst>
            </p:cNvPr>
            <p:cNvSpPr/>
            <p:nvPr/>
          </p:nvSpPr>
          <p:spPr>
            <a:xfrm rot="11852143">
              <a:off x="1683856" y="1639371"/>
              <a:ext cx="114245" cy="153379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9091FADF-77DB-CB1D-CD72-56C53CF76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9355115"/>
              </p:ext>
            </p:extLst>
          </p:nvPr>
        </p:nvGraphicFramePr>
        <p:xfrm>
          <a:off x="-795813" y="4774125"/>
          <a:ext cx="5902325" cy="1366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3565">
                  <a:extLst>
                    <a:ext uri="{9D8B030D-6E8A-4147-A177-3AD203B41FA5}">
                      <a16:colId xmlns:a16="http://schemas.microsoft.com/office/drawing/2014/main" val="40058472"/>
                    </a:ext>
                  </a:extLst>
                </a:gridCol>
                <a:gridCol w="4528760">
                  <a:extLst>
                    <a:ext uri="{9D8B030D-6E8A-4147-A177-3AD203B41FA5}">
                      <a16:colId xmlns:a16="http://schemas.microsoft.com/office/drawing/2014/main" val="1330242319"/>
                    </a:ext>
                  </a:extLst>
                </a:gridCol>
              </a:tblGrid>
              <a:tr h="1332118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IN" sz="500" b="1" dirty="0">
                        <a:solidFill>
                          <a:srgbClr val="C0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Under the Guidance of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b="1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Dr. N. Sirisha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Professor,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b="1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Department of Computer Science and Engineering,</a:t>
                      </a:r>
                      <a:r>
                        <a:rPr lang="en-US" sz="1400" b="1" dirty="0">
                          <a:solidFill>
                            <a:prstClr val="black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/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KLH CSE Bowrampet Campus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08782725"/>
                  </a:ext>
                </a:extLst>
              </a:tr>
            </a:tbl>
          </a:graphicData>
        </a:graphic>
      </p:graphicFrame>
      <p:grpSp>
        <p:nvGrpSpPr>
          <p:cNvPr id="31" name="Group 30">
            <a:extLst>
              <a:ext uri="{FF2B5EF4-FFF2-40B4-BE49-F238E27FC236}">
                <a16:creationId xmlns:a16="http://schemas.microsoft.com/office/drawing/2014/main" id="{8A67E7A6-1F33-FBD3-09B8-F35F17C8F890}"/>
              </a:ext>
            </a:extLst>
          </p:cNvPr>
          <p:cNvGrpSpPr/>
          <p:nvPr/>
        </p:nvGrpSpPr>
        <p:grpSpPr>
          <a:xfrm>
            <a:off x="442519" y="4562547"/>
            <a:ext cx="230240" cy="232995"/>
            <a:chOff x="1567861" y="1613059"/>
            <a:chExt cx="230240" cy="232995"/>
          </a:xfrm>
          <a:solidFill>
            <a:srgbClr val="00B0F0"/>
          </a:solidFill>
        </p:grpSpPr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FE269535-B3A3-75F2-310C-D43D8AC3F905}"/>
                </a:ext>
              </a:extLst>
            </p:cNvPr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highlight>
                  <a:srgbClr val="FFFF00"/>
                </a:highlight>
              </a:endParaRPr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FA8E9237-F9D3-FB94-D6EB-94D77AEFD506}"/>
                </a:ext>
              </a:extLst>
            </p:cNvPr>
            <p:cNvSpPr/>
            <p:nvPr/>
          </p:nvSpPr>
          <p:spPr>
            <a:xfrm rot="11852143">
              <a:off x="1683856" y="1639371"/>
              <a:ext cx="114245" cy="153379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sp>
        <p:nvSpPr>
          <p:cNvPr id="34" name="Date Placeholder 33">
            <a:extLst>
              <a:ext uri="{FF2B5EF4-FFF2-40B4-BE49-F238E27FC236}">
                <a16:creationId xmlns:a16="http://schemas.microsoft.com/office/drawing/2014/main" id="{C1554CCE-4DF8-89E6-E0F6-3C2A1439C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b="1" dirty="0"/>
              <a:t>Date</a:t>
            </a:r>
            <a:endParaRPr lang="en-IN" b="1" dirty="0"/>
          </a:p>
        </p:txBody>
      </p:sp>
      <p:sp>
        <p:nvSpPr>
          <p:cNvPr id="35" name="Footer Placeholder 34">
            <a:extLst>
              <a:ext uri="{FF2B5EF4-FFF2-40B4-BE49-F238E27FC236}">
                <a16:creationId xmlns:a16="http://schemas.microsoft.com/office/drawing/2014/main" id="{8FB49AA0-2464-6225-6B6C-063F9A6EC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b="1" dirty="0"/>
              <a:t>FDE Project Review-2</a:t>
            </a:r>
          </a:p>
        </p:txBody>
      </p:sp>
      <p:sp>
        <p:nvSpPr>
          <p:cNvPr id="36" name="Slide Number Placeholder 35">
            <a:extLst>
              <a:ext uri="{FF2B5EF4-FFF2-40B4-BE49-F238E27FC236}">
                <a16:creationId xmlns:a16="http://schemas.microsoft.com/office/drawing/2014/main" id="{28F834F9-83AA-E3F9-773A-4B7A83B3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1</a:t>
            </a:fld>
            <a:endParaRPr lang="en-IN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E5F681-D3B5-BC4B-8AA4-5688DCEEFB44}"/>
              </a:ext>
            </a:extLst>
          </p:cNvPr>
          <p:cNvSpPr/>
          <p:nvPr/>
        </p:nvSpPr>
        <p:spPr>
          <a:xfrm>
            <a:off x="538162" y="829240"/>
            <a:ext cx="10915650" cy="985640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782FAE-AFAF-27B2-2591-CFAF7695B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D4CF64F-3FB6-0CE4-B778-63C5D5A1D343}"/>
              </a:ext>
            </a:extLst>
          </p:cNvPr>
          <p:cNvSpPr txBox="1"/>
          <p:nvPr/>
        </p:nvSpPr>
        <p:spPr>
          <a:xfrm>
            <a:off x="738187" y="996602"/>
            <a:ext cx="107156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IN" sz="1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Air Quality Intelligence System (AQIS) – A Big Data Engineering Pipeline for Real-Time Pollution Monitoring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Poppins" pitchFamily="2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5BC1A0-FDE4-1557-375E-6E0BD69BC77B}"/>
              </a:ext>
            </a:extLst>
          </p:cNvPr>
          <p:cNvSpPr txBox="1"/>
          <p:nvPr/>
        </p:nvSpPr>
        <p:spPr>
          <a:xfrm>
            <a:off x="738187" y="2246806"/>
            <a:ext cx="107156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FDE Project Review-2</a:t>
            </a:r>
          </a:p>
        </p:txBody>
      </p:sp>
    </p:spTree>
    <p:extLst>
      <p:ext uri="{BB962C8B-B14F-4D97-AF65-F5344CB8AC3E}">
        <p14:creationId xmlns:p14="http://schemas.microsoft.com/office/powerpoint/2010/main" val="2247602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EF2FA-32F2-6715-843F-6ACC796D0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00062CA-E93E-DFB0-5A22-1412AB9A6752}"/>
              </a:ext>
            </a:extLst>
          </p:cNvPr>
          <p:cNvSpPr txBox="1"/>
          <p:nvPr/>
        </p:nvSpPr>
        <p:spPr>
          <a:xfrm>
            <a:off x="700000" y="600078"/>
            <a:ext cx="107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/>
              <a:t>Project Abstract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77B92A-0C12-D39A-8847-98719E7B6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103" name="Problem Gap Content"/>
          <p:cNvSpPr txBox="1"/>
          <p:nvPr/>
        </p:nvSpPr>
        <p:spPr>
          <a:xfrm>
            <a:off x="800100" y="1750000"/>
            <a:ext cx="10600000" cy="46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 algn="just">
              <a:buFont typeface="Arial" pitchFamily="34" charset="0"/>
              <a:buChar char="•"/>
            </a:pPr>
            <a:r>
              <a:rPr lang="en-US" sz="1600" b="0" dirty="0">
                <a:latin typeface="Times New Roman" pitchFamily="18" charset="0"/>
                <a:cs typeface="Times New Roman" pitchFamily="18" charset="0"/>
              </a:rPr>
              <a:t>The Air Quality Intelligence System (AQIS) using Big Data and Python is a data engineering project designed to collect, process, and analyze large volumes of air-quality data.</a:t>
            </a:r>
          </a:p>
          <a:p>
            <a:pPr marL="285750" indent="-285750" algn="just">
              <a:buFont typeface="Arial" pitchFamily="34" charset="0"/>
              <a:buChar char="•"/>
            </a:pPr>
            <a:r>
              <a:rPr lang="en-US" sz="1600" b="0" dirty="0">
                <a:latin typeface="Times New Roman" pitchFamily="18" charset="0"/>
                <a:cs typeface="Times New Roman" pitchFamily="18" charset="0"/>
              </a:rPr>
              <a:t>The system uses Python for data generation and preprocessing, Apache Kafka for real-time data streaming, and Apache Spark/PySpark for large-scale data processing.</a:t>
            </a:r>
          </a:p>
          <a:p>
            <a:pPr marL="285750" indent="-285750" algn="just">
              <a:buFont typeface="Arial" pitchFamily="34" charset="0"/>
              <a:buChar char="•"/>
            </a:pPr>
            <a:r>
              <a:rPr lang="en-US" sz="1600" b="0" dirty="0">
                <a:latin typeface="Times New Roman" pitchFamily="18" charset="0"/>
                <a:cs typeface="Times New Roman" pitchFamily="18" charset="0"/>
              </a:rPr>
              <a:t>Air-quality parameters such as PM2.5, PM10, CO, NO₂, SO₂, temperature, and humidity are processed to identify pollution patterns and trends.</a:t>
            </a:r>
          </a:p>
          <a:p>
            <a:pPr marL="285750" indent="-285750" algn="just">
              <a:buFont typeface="Arial" pitchFamily="34" charset="0"/>
              <a:buChar char="•"/>
            </a:pPr>
            <a:r>
              <a:rPr lang="en-US" sz="1600" b="0" dirty="0">
                <a:latin typeface="Times New Roman" pitchFamily="18" charset="0"/>
                <a:cs typeface="Times New Roman" pitchFamily="18" charset="0"/>
              </a:rPr>
              <a:t>The processed data can be stored using Parquet/MySQL and visualized through Power BI or Python-based dashboards.</a:t>
            </a:r>
          </a:p>
          <a:p>
            <a:pPr marL="285750" indent="-285750" algn="just">
              <a:buFont typeface="Arial" pitchFamily="34" charset="0"/>
              <a:buChar char="•"/>
            </a:pPr>
            <a:r>
              <a:rPr lang="en-US" sz="1600" b="0" dirty="0">
                <a:latin typeface="Times New Roman" pitchFamily="18" charset="0"/>
                <a:cs typeface="Times New Roman" pitchFamily="18" charset="0"/>
              </a:rPr>
              <a:t>Continuous streaming ensures pollution updates are available in near real-time rather than in periodic batches.</a:t>
            </a:r>
          </a:p>
          <a:p>
            <a:pPr marL="285750" indent="-285750" algn="just">
              <a:buFont typeface="Arial" pitchFamily="34" charset="0"/>
              <a:buChar char="•"/>
            </a:pPr>
            <a:r>
              <a:rPr lang="en-US" sz="1600" b="0" dirty="0">
                <a:latin typeface="Times New Roman" pitchFamily="18" charset="0"/>
                <a:cs typeface="Times New Roman" pitchFamily="18" charset="0"/>
              </a:rPr>
              <a:t>The system is designed to be modular and scalable, so new sensors, cities, or pollutants can be added without redesigning the pipeline.</a:t>
            </a:r>
          </a:p>
          <a:p>
            <a:pPr marL="285750" indent="-285750" algn="just">
              <a:buFont typeface="Arial" pitchFamily="34" charset="0"/>
              <a:buChar char="•"/>
            </a:pPr>
            <a:r>
              <a:rPr lang="en-US" sz="1600" b="0" dirty="0">
                <a:latin typeface="Times New Roman" pitchFamily="18" charset="0"/>
                <a:cs typeface="Times New Roman" pitchFamily="18" charset="0"/>
              </a:rPr>
              <a:t>Historical data stored in the pipeline enables trend analysis, seasonal comparisons, and long-term air-quality assessment.</a:t>
            </a:r>
          </a:p>
          <a:p>
            <a:pPr marL="0" indent="0" algn="just"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The project demonstrates how Big Data technologies can transform raw environmental data into meaningful insights for better air-quality monitoring and decision-making.</a:t>
            </a:r>
          </a:p>
        </p:txBody>
      </p:sp>
    </p:spTree>
    <p:extLst>
      <p:ext uri="{BB962C8B-B14F-4D97-AF65-F5344CB8AC3E}">
        <p14:creationId xmlns:p14="http://schemas.microsoft.com/office/powerpoint/2010/main" val="2065876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EF2FA-32F2-6715-843F-6ACC796D0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00062CA-E93E-DFB0-5A22-1412AB9A6752}"/>
              </a:ext>
            </a:extLst>
          </p:cNvPr>
          <p:cNvSpPr txBox="1"/>
          <p:nvPr/>
        </p:nvSpPr>
        <p:spPr>
          <a:xfrm>
            <a:off x="700000" y="600078"/>
            <a:ext cx="107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/>
              <a:t>Introduction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77B92A-0C12-D39A-8847-98719E7B6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103" name="Problem Gap Content"/>
          <p:cNvSpPr txBox="1"/>
          <p:nvPr/>
        </p:nvSpPr>
        <p:spPr>
          <a:xfrm>
            <a:off x="800100" y="1750000"/>
            <a:ext cx="10600000" cy="46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 algn="just">
              <a:buFont typeface="Arial" pitchFamily="34" charset="0"/>
              <a:buChar char="•"/>
            </a:pPr>
            <a:r>
              <a:rPr lang="en-US" sz="1600" b="0" dirty="0">
                <a:latin typeface="Times New Roman" pitchFamily="18" charset="0"/>
                <a:cs typeface="Times New Roman" pitchFamily="18" charset="0"/>
              </a:rPr>
              <a:t>Air pollution is a major environmental problem, and air-quality monitoring systems continuously generate large amounts of data from sensors, APIs, and monitoring stations.</a:t>
            </a:r>
          </a:p>
          <a:p>
            <a:pPr marL="285750" indent="-285750" algn="just">
              <a:buFont typeface="Arial" pitchFamily="34" charset="0"/>
              <a:buChar char="•"/>
            </a:pPr>
            <a:r>
              <a:rPr lang="en-US" sz="1600" b="0" dirty="0">
                <a:latin typeface="Times New Roman" pitchFamily="18" charset="0"/>
                <a:cs typeface="Times New Roman" pitchFamily="18" charset="0"/>
              </a:rPr>
              <a:t>Handling this data efficiently requires proper data ingestion, processing, storage, and analysis techniques.</a:t>
            </a:r>
          </a:p>
          <a:p>
            <a:pPr marL="285750" indent="-285750" algn="just">
              <a:buFont typeface="Arial" pitchFamily="34" charset="0"/>
              <a:buChar char="•"/>
            </a:pPr>
            <a:r>
              <a:rPr lang="en-US" sz="1600" b="0" dirty="0">
                <a:latin typeface="Times New Roman" pitchFamily="18" charset="0"/>
                <a:cs typeface="Times New Roman" pitchFamily="18" charset="0"/>
              </a:rPr>
              <a:t>This project develops an end-to-end Big Data engineering pipeline using Python, Apache Kafka, and Apache Spark.</a:t>
            </a:r>
          </a:p>
          <a:p>
            <a:pPr marL="285750" indent="-285750" algn="just">
              <a:buFont typeface="Arial" pitchFamily="34" charset="0"/>
              <a:buChar char="•"/>
            </a:pPr>
            <a:r>
              <a:rPr lang="en-US" sz="1600" b="0" dirty="0">
                <a:latin typeface="Times New Roman" pitchFamily="18" charset="0"/>
                <a:cs typeface="Times New Roman" pitchFamily="18" charset="0"/>
              </a:rPr>
              <a:t>Python generates or collects air-quality data, Kafka handles real-time data streaming, and Spark processes and transforms the incoming data at scale.</a:t>
            </a:r>
          </a:p>
          <a:p>
            <a:pPr marL="285750" indent="-285750" algn="just">
              <a:buFont typeface="Arial" pitchFamily="34" charset="0"/>
              <a:buChar char="•"/>
            </a:pPr>
            <a:r>
              <a:rPr lang="en-US" sz="1600" b="0" dirty="0">
                <a:latin typeface="Times New Roman" pitchFamily="18" charset="0"/>
                <a:cs typeface="Times New Roman" pitchFamily="18" charset="0"/>
              </a:rPr>
              <a:t>Poor air quality directly affects public health, making timely and accurate monitoring essential for policymakers and citizens alike.</a:t>
            </a:r>
          </a:p>
          <a:p>
            <a:pPr marL="285750" indent="-285750" algn="just">
              <a:buFont typeface="Arial" pitchFamily="34" charset="0"/>
              <a:buChar char="•"/>
            </a:pPr>
            <a:r>
              <a:rPr lang="en-US" sz="1600" b="0" dirty="0">
                <a:latin typeface="Times New Roman" pitchFamily="18" charset="0"/>
                <a:cs typeface="Times New Roman" pitchFamily="18" charset="0"/>
              </a:rPr>
              <a:t>Traditional monitoring systems often rely on manual reporting or delayed batch processing, which limits their usefulness for immediate decision-making.</a:t>
            </a:r>
          </a:p>
          <a:p>
            <a:pPr marL="285750" indent="-285750" algn="just">
              <a:buFont typeface="Arial" pitchFamily="34" charset="0"/>
              <a:buChar char="•"/>
            </a:pPr>
            <a:r>
              <a:rPr lang="en-US" sz="1600" b="0" dirty="0">
                <a:latin typeface="Times New Roman" pitchFamily="18" charset="0"/>
                <a:cs typeface="Times New Roman" pitchFamily="18" charset="0"/>
              </a:rPr>
              <a:t>By combining streaming ingestion with distributed processing, the system bridges the gap between raw sensor data and actionable insights.</a:t>
            </a:r>
          </a:p>
          <a:p>
            <a:pPr marL="0" indent="0" algn="just">
              <a:buNone/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Tools such as Pandas and NumPy support data manipulation, while Power BI or Python visualization libraries help present pollution trends and insights.</a:t>
            </a:r>
          </a:p>
        </p:txBody>
      </p:sp>
    </p:spTree>
    <p:extLst>
      <p:ext uri="{BB962C8B-B14F-4D97-AF65-F5344CB8AC3E}">
        <p14:creationId xmlns:p14="http://schemas.microsoft.com/office/powerpoint/2010/main" val="20658760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1135</Words>
  <Application>Microsoft Office PowerPoint</Application>
  <PresentationFormat>Widescreen</PresentationFormat>
  <Paragraphs>109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Calibri Light</vt:lpstr>
      <vt:lpstr>Times New Roman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srikanth ch</dc:creator>
  <cp:lastModifiedBy>Dasari Dinesh Kumar</cp:lastModifiedBy>
  <cp:revision>38</cp:revision>
  <dcterms:created xsi:type="dcterms:W3CDTF">2026-08-08T06:33:56Z</dcterms:created>
  <dcterms:modified xsi:type="dcterms:W3CDTF">2026-08-27T18:53:33Z</dcterms:modified>
</cp:coreProperties>
</file>